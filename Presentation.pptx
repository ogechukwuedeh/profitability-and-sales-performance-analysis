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15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881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964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98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49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946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94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65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82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26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616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3635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120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064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904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587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1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1FC410C-A0D9-4139-9C58-5228FA1DDF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CCE428-B21B-482E-AA82-2C4D61F10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96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86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422A-55D6-0485-7542-F4A93306F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08" y="400187"/>
            <a:ext cx="12196281" cy="1381474"/>
          </a:xfrm>
        </p:spPr>
        <p:txBody>
          <a:bodyPr>
            <a:normAutofit fontScale="90000"/>
          </a:bodyPr>
          <a:lstStyle/>
          <a:p>
            <a:r>
              <a:rPr lang="en-GB" sz="4400" b="1" dirty="0"/>
              <a:t>Profitability &amp; Sales Performance Analysis</a:t>
            </a: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B7315-34DD-1F1B-F05E-20FD239A3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708" y="1177417"/>
            <a:ext cx="9144000" cy="1543399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Global</a:t>
            </a:r>
            <a:r>
              <a:rPr lang="en-GB" sz="2800" dirty="0"/>
              <a:t> </a:t>
            </a:r>
            <a:r>
              <a:rPr lang="en-GB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Superstore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D9192E4-BED8-10E7-EA73-028ACC16D882}"/>
              </a:ext>
            </a:extLst>
          </p:cNvPr>
          <p:cNvSpPr txBox="1">
            <a:spLocks/>
          </p:cNvSpPr>
          <p:nvPr/>
        </p:nvSpPr>
        <p:spPr>
          <a:xfrm>
            <a:off x="-1036196" y="5758175"/>
            <a:ext cx="9144000" cy="1789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Edeh Ogechukwu Evelyn</a:t>
            </a:r>
            <a:br>
              <a:rPr lang="en-GB" sz="2800" dirty="0"/>
            </a:br>
            <a:r>
              <a:rPr lang="en-GB" sz="2800" dirty="0"/>
              <a:t>Data Analyst | Excel | SQL | Power BI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877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A2C4D-EFBC-FB0D-34A1-D98BCA8E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342A-2D61-AF35-C275-C5BCE0971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407155"/>
            <a:ext cx="9933307" cy="2059064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Business Challenge</a:t>
            </a: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1B0AD-026C-CC07-2809-1625F0527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1778150"/>
            <a:ext cx="9144000" cy="33017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chemeClr val="bg2">
                    <a:lumMod val="50000"/>
                  </a:schemeClr>
                </a:solidFill>
              </a:rPr>
              <a:t>Strong revenue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chemeClr val="bg2">
                    <a:lumMod val="50000"/>
                  </a:schemeClr>
                </a:solidFill>
              </a:rPr>
              <a:t>Unstable profitability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chemeClr val="bg2">
                    <a:lumMod val="50000"/>
                  </a:schemeClr>
                </a:solidFill>
              </a:rPr>
              <a:t>Rising returns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200" dirty="0">
                <a:solidFill>
                  <a:schemeClr val="bg2">
                    <a:lumMod val="50000"/>
                  </a:schemeClr>
                </a:solidFill>
              </a:rPr>
              <a:t>Inconsistent regional performance</a:t>
            </a:r>
          </a:p>
          <a:p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1F37F49-635C-6A7A-7162-32A36CD39993}"/>
              </a:ext>
            </a:extLst>
          </p:cNvPr>
          <p:cNvSpPr txBox="1">
            <a:spLocks/>
          </p:cNvSpPr>
          <p:nvPr/>
        </p:nvSpPr>
        <p:spPr>
          <a:xfrm>
            <a:off x="578533" y="5328370"/>
            <a:ext cx="10652639" cy="1833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dirty="0"/>
              <a:t>Key Question: Where is the company losing profit?</a:t>
            </a:r>
          </a:p>
        </p:txBody>
      </p:sp>
    </p:spTree>
    <p:extLst>
      <p:ext uri="{BB962C8B-B14F-4D97-AF65-F5344CB8AC3E}">
        <p14:creationId xmlns:p14="http://schemas.microsoft.com/office/powerpoint/2010/main" val="211959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A2756-F262-542D-5C5E-7EA9CC09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C3BA-574B-B768-A739-3E0119FA7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530445"/>
            <a:ext cx="9933307" cy="2059064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Project Objective</a:t>
            </a: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B3675-F69B-28C0-115D-F399E309C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1731935"/>
            <a:ext cx="9027733" cy="3394130"/>
          </a:xfrm>
        </p:spPr>
        <p:txBody>
          <a:bodyPr>
            <a:normAutofit/>
          </a:bodyPr>
          <a:lstStyle/>
          <a:p>
            <a:br>
              <a:rPr lang="en-GB" dirty="0">
                <a:solidFill>
                  <a:schemeClr val="bg2">
                    <a:lumMod val="50000"/>
                  </a:schemeClr>
                </a:solidFill>
              </a:rPr>
            </a:br>
            <a:br>
              <a:rPr lang="en-GB" dirty="0">
                <a:solidFill>
                  <a:schemeClr val="bg2">
                    <a:lumMod val="50000"/>
                  </a:schemeClr>
                </a:solidFill>
              </a:rPr>
            </a:br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1E4E076-D3F3-B2F3-9307-9922DE845A61}"/>
              </a:ext>
            </a:extLst>
          </p:cNvPr>
          <p:cNvSpPr txBox="1">
            <a:spLocks/>
          </p:cNvSpPr>
          <p:nvPr/>
        </p:nvSpPr>
        <p:spPr>
          <a:xfrm>
            <a:off x="938200" y="1731935"/>
            <a:ext cx="9144000" cy="33017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200" dirty="0">
                <a:solidFill>
                  <a:schemeClr val="bg2">
                    <a:lumMod val="50000"/>
                  </a:schemeClr>
                </a:solidFill>
              </a:rPr>
              <a:t>The objectives was to: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1200" dirty="0">
                <a:solidFill>
                  <a:schemeClr val="bg2">
                    <a:lumMod val="50000"/>
                  </a:schemeClr>
                </a:solidFill>
              </a:rPr>
              <a:t>Evaluate sales vs profit performance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1200" dirty="0">
                <a:solidFill>
                  <a:schemeClr val="bg2">
                    <a:lumMod val="50000"/>
                  </a:schemeClr>
                </a:solidFill>
              </a:rPr>
              <a:t>Identify loss-making products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1200" dirty="0" err="1">
                <a:solidFill>
                  <a:schemeClr val="bg2">
                    <a:lumMod val="50000"/>
                  </a:schemeClr>
                </a:solidFill>
              </a:rPr>
              <a:t>Analyze</a:t>
            </a:r>
            <a:r>
              <a:rPr lang="en-GB" sz="11200" dirty="0">
                <a:solidFill>
                  <a:schemeClr val="bg2">
                    <a:lumMod val="50000"/>
                  </a:schemeClr>
                </a:solidFill>
              </a:rPr>
              <a:t> discount impact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1200" dirty="0">
                <a:solidFill>
                  <a:schemeClr val="bg2">
                    <a:lumMod val="50000"/>
                  </a:schemeClr>
                </a:solidFill>
              </a:rPr>
              <a:t>Examine regional performance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11200" dirty="0">
                <a:solidFill>
                  <a:schemeClr val="bg2">
                    <a:lumMod val="50000"/>
                  </a:schemeClr>
                </a:solidFill>
              </a:rPr>
              <a:t>Support decision-making</a:t>
            </a:r>
            <a:endParaRPr lang="en-GB" sz="9600" dirty="0">
              <a:solidFill>
                <a:schemeClr val="bg2">
                  <a:lumMod val="50000"/>
                </a:schemeClr>
              </a:solidFill>
            </a:endParaRPr>
          </a:p>
          <a:p>
            <a:br>
              <a:rPr lang="en-GB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0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4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8C50A-CE31-3886-6169-1834F7ED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B6C6F-4594-E11C-FB76-3BA580A44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199" y="183558"/>
            <a:ext cx="9933307" cy="2809068"/>
          </a:xfrm>
        </p:spPr>
        <p:txBody>
          <a:bodyPr>
            <a:normAutofit/>
          </a:bodyPr>
          <a:lstStyle/>
          <a:p>
            <a:r>
              <a:rPr lang="en-GB" sz="3200" dirty="0"/>
              <a:t>Analytics Pipeline:</a:t>
            </a: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40B-CAE3-0F90-4C16-7747613AA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199" y="1374979"/>
            <a:ext cx="4284729" cy="670302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Excel → SQL → Power</a:t>
            </a:r>
            <a:endParaRPr lang="en-GB" sz="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119EFC-A7D9-4F7D-0516-5C438279D289}"/>
              </a:ext>
            </a:extLst>
          </p:cNvPr>
          <p:cNvSpPr txBox="1">
            <a:spLocks/>
          </p:cNvSpPr>
          <p:nvPr/>
        </p:nvSpPr>
        <p:spPr>
          <a:xfrm>
            <a:off x="938199" y="2779513"/>
            <a:ext cx="9933307" cy="280906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/>
              <a:t>excel:</a:t>
            </a: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C7D841-86C9-D1BE-24B3-769571439C6C}"/>
              </a:ext>
            </a:extLst>
          </p:cNvPr>
          <p:cNvSpPr txBox="1">
            <a:spLocks/>
          </p:cNvSpPr>
          <p:nvPr/>
        </p:nvSpPr>
        <p:spPr>
          <a:xfrm>
            <a:off x="4580947" y="2779513"/>
            <a:ext cx="2265338" cy="280906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 err="1"/>
              <a:t>sql</a:t>
            </a:r>
            <a:r>
              <a:rPr lang="en-GB" sz="3000" dirty="0"/>
              <a:t>:</a:t>
            </a: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BFC98D-BE89-059F-67A8-D9CAC9282A47}"/>
              </a:ext>
            </a:extLst>
          </p:cNvPr>
          <p:cNvSpPr txBox="1">
            <a:spLocks/>
          </p:cNvSpPr>
          <p:nvPr/>
        </p:nvSpPr>
        <p:spPr>
          <a:xfrm>
            <a:off x="8600916" y="2777712"/>
            <a:ext cx="9933307" cy="280906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/>
              <a:t>Power bi:</a:t>
            </a: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09898E7-0689-A61D-681B-94D3698C75F5}"/>
              </a:ext>
            </a:extLst>
          </p:cNvPr>
          <p:cNvSpPr txBox="1">
            <a:spLocks/>
          </p:cNvSpPr>
          <p:nvPr/>
        </p:nvSpPr>
        <p:spPr>
          <a:xfrm>
            <a:off x="938199" y="3848896"/>
            <a:ext cx="4284729" cy="6703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Inspection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Cleaning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0E96FCF-7490-1293-6B41-38F0E8C3D62D}"/>
              </a:ext>
            </a:extLst>
          </p:cNvPr>
          <p:cNvSpPr txBox="1">
            <a:spLocks/>
          </p:cNvSpPr>
          <p:nvPr/>
        </p:nvSpPr>
        <p:spPr>
          <a:xfrm>
            <a:off x="4517372" y="3875735"/>
            <a:ext cx="4284729" cy="6703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Joins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Transformations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Aggregation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CBBC19-590E-8B18-D6BD-DADBF43513D2}"/>
              </a:ext>
            </a:extLst>
          </p:cNvPr>
          <p:cNvSpPr txBox="1">
            <a:spLocks/>
          </p:cNvSpPr>
          <p:nvPr/>
        </p:nvSpPr>
        <p:spPr>
          <a:xfrm>
            <a:off x="8599387" y="3847095"/>
            <a:ext cx="4284729" cy="6703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DAX measures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3841721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7344B-CB09-0CF9-FF4E-744FD6500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377ADE0-3F31-E43B-CEBA-77B77BBFF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6D2C44E6-1AD5-E3D0-55FB-25FBA28F6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A69E65-3221-AF37-B7B5-6BCBA057C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3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FDE66-BAB2-831F-BCC8-2F5A6930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9717-CB7A-87CC-CF16-0232CC581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088" y="798299"/>
            <a:ext cx="9933307" cy="3046413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Overall Business Performance</a:t>
            </a: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6AC24-23D2-B9B6-BECE-676FF5386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1807859"/>
            <a:ext cx="4284729" cy="67030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Total Sales: $12.64M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Total Profit: $1.47M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Profit Margin: 12%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Total Orders: 25.04K</a:t>
            </a:r>
          </a:p>
        </p:txBody>
      </p:sp>
    </p:spTree>
    <p:extLst>
      <p:ext uri="{BB962C8B-B14F-4D97-AF65-F5344CB8AC3E}">
        <p14:creationId xmlns:p14="http://schemas.microsoft.com/office/powerpoint/2010/main" val="392910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9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7FFBC-945A-2EA5-D4DD-CDCAADBEB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5747-3B4D-1867-4E19-6CB5A6BA5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732" y="534257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Regional Performance</a:t>
            </a: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6C56F-98DD-9652-1390-1275663F5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732" y="1694843"/>
            <a:ext cx="6407822" cy="670302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Central region: 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Highest profit → $311,403.88</a:t>
            </a:r>
          </a:p>
          <a:p>
            <a:endParaRPr lang="en-GB" sz="28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Canada: 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Lowest profit → $17,817.39</a:t>
            </a:r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3134949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52BED-1062-AC52-D20D-54692ADB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1AC8-EA0B-E9F8-B989-AF8B3D086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832208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Product Performance Risk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CF629-5BB8-6CBF-17B6-7E0F84CC2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1530457"/>
            <a:ext cx="7178384" cy="670302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Tables sub-category: 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Loss → –$64,083.55</a:t>
            </a:r>
          </a:p>
          <a:p>
            <a:endParaRPr lang="en-GB" sz="28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Furniture: </a:t>
            </a: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Highest return rate → 5.92%</a:t>
            </a:r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1712103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6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724F3-EB6D-576E-F464-527CEE76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EBD2-DF72-8506-6FB4-4A77F4E92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832208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Sales vs Profit Relationship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AF991-D08E-9EB8-FE01-0B5BC3DD6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199" y="1530457"/>
            <a:ext cx="8287993" cy="670302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chemeClr val="bg2">
                    <a:lumMod val="50000"/>
                  </a:schemeClr>
                </a:solidFill>
              </a:rPr>
              <a:t>Profit increases as sales increase</a:t>
            </a:r>
          </a:p>
          <a:p>
            <a:endParaRPr lang="en-GB" sz="32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GB" sz="3200" dirty="0">
                <a:solidFill>
                  <a:schemeClr val="bg2">
                    <a:lumMod val="50000"/>
                  </a:schemeClr>
                </a:solidFill>
              </a:rPr>
              <a:t>Business relies on: </a:t>
            </a:r>
          </a:p>
          <a:p>
            <a:r>
              <a:rPr lang="en-GB" sz="3200" dirty="0">
                <a:solidFill>
                  <a:schemeClr val="bg2">
                    <a:lumMod val="50000"/>
                  </a:schemeClr>
                </a:solidFill>
              </a:rPr>
              <a:t>volume rather than efficiency</a:t>
            </a:r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055361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1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1D89E-3742-4235-C1FA-D1A7005D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7C8C-D0B2-1B82-B0CE-9845D4474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199" y="1243174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Discount Impact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67C96-F581-CBB8-E881-B4748DDE4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199" y="2486194"/>
            <a:ext cx="8287993" cy="670302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Higher discounts → lower profit margins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15839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7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E5588-18A1-AD0D-FC8D-B4C99A26E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C488-42D9-4B12-553A-92C805DD7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996594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Key Insight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6439B-58DF-E8A0-7670-81BA12DEF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1910601"/>
            <a:ext cx="6407822" cy="670302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This is NOT a revenue problem.</a:t>
            </a:r>
          </a:p>
          <a:p>
            <a:endParaRPr lang="en-GB" sz="28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This is a profit optimization problem.</a:t>
            </a:r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429193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0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9BBE7-00CA-BAAE-054C-CAE835B4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4568-CB15-4388-6D46-7A6C97793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924676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Strategic Recommendations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8E189-38D7-3706-51CF-AF4E00531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1592101"/>
            <a:ext cx="7712640" cy="67030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Pricing optimization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Product portfolio restructuring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Return reduction strategy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Regional performance optimization</a:t>
            </a:r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1377572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2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951C2-C1B6-EE2A-16D1-909D2725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9CB2-1380-1F05-DD9D-16457DF85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832208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Business impact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75631-9F3F-E12E-666D-39A89286A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1366070"/>
            <a:ext cx="6407822" cy="670302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If implemented, there will be: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Higher margins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Reduced losses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Smarter investments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Improved product strategy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Executive decision support</a:t>
            </a:r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789672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41C3C-B0B0-992D-B40C-25D6C74E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F890-AEC0-F927-B1FD-A3275CCB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832208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Project value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1C5E7-56C2-8392-5D4E-042B50263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1366070"/>
            <a:ext cx="6407822" cy="670302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This project demonstrates:</a:t>
            </a:r>
            <a:endParaRPr lang="en-GB" sz="24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SQL data transformation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Power BI dashboard design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Business analytics thinking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Executive storytelling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Decision-driven insights</a:t>
            </a:r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373160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23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54727-4F8B-D9F7-C8E4-DB163864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0DCA-7CED-4C82-C5CF-2D53245CD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200" y="832208"/>
            <a:ext cx="9933307" cy="3485116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closing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90994-A8ED-A8A6-B2D5-5DC32A06D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00" y="2167455"/>
            <a:ext cx="10527760" cy="670302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</a:rPr>
              <a:t>Data becomes valuable when it drives decisions.</a:t>
            </a:r>
          </a:p>
          <a:p>
            <a:endParaRPr lang="en-GB" sz="3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F1E9AF-D807-3764-DEDD-E6EFDF49B758}"/>
              </a:ext>
            </a:extLst>
          </p:cNvPr>
          <p:cNvSpPr txBox="1">
            <a:spLocks/>
          </p:cNvSpPr>
          <p:nvPr/>
        </p:nvSpPr>
        <p:spPr>
          <a:xfrm>
            <a:off x="9198623" y="5536878"/>
            <a:ext cx="4753683" cy="264224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200" dirty="0"/>
              <a:t>Thank you</a:t>
            </a:r>
            <a:br>
              <a:rPr lang="en-GB" sz="3200" dirty="0"/>
            </a:br>
            <a:br>
              <a:rPr lang="en-GB" sz="3200" dirty="0"/>
            </a:br>
            <a:br>
              <a:rPr lang="en-GB" sz="3200" dirty="0"/>
            </a:br>
            <a:br>
              <a:rPr lang="en-GB" sz="4400" dirty="0"/>
            </a:b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429423096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427</TotalTime>
  <Words>340</Words>
  <Application>Microsoft Office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Century Gothic</vt:lpstr>
      <vt:lpstr>Wingdings</vt:lpstr>
      <vt:lpstr>Wingdings 3</vt:lpstr>
      <vt:lpstr>Slice</vt:lpstr>
      <vt:lpstr>Profitability &amp; Sales Performance Analysis </vt:lpstr>
      <vt:lpstr>Business Challenge  </vt:lpstr>
      <vt:lpstr>Project Objective  </vt:lpstr>
      <vt:lpstr>Analytics Pipeline:   </vt:lpstr>
      <vt:lpstr>PowerPoint Presentation</vt:lpstr>
      <vt:lpstr>Overall Business Performance    </vt:lpstr>
      <vt:lpstr>Regional Performance     </vt:lpstr>
      <vt:lpstr>Product Performance Risk      </vt:lpstr>
      <vt:lpstr>Sales vs Profit Relationship      </vt:lpstr>
      <vt:lpstr>Discount Impact      </vt:lpstr>
      <vt:lpstr>Key Insight      </vt:lpstr>
      <vt:lpstr>Strategic Recommendations      </vt:lpstr>
      <vt:lpstr>Business impact      </vt:lpstr>
      <vt:lpstr>Project value      </vt:lpstr>
      <vt:lpstr>closing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Ogechukwu Evelyn</dc:creator>
  <cp:lastModifiedBy>Ogechukwu Evelyn</cp:lastModifiedBy>
  <cp:revision>6</cp:revision>
  <dcterms:created xsi:type="dcterms:W3CDTF">2026-02-15T14:40:05Z</dcterms:created>
  <dcterms:modified xsi:type="dcterms:W3CDTF">2026-02-16T13:30:53Z</dcterms:modified>
</cp:coreProperties>
</file>